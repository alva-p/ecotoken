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6BB6A"/>
                </a:solidFill>
                <a:latin typeface="Calibri"/>
              </a:rPr>
              <a:t>LÍNEA BASE · CICLO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5E20"/>
                </a:solidFill>
                <a:latin typeface="Calibri"/>
              </a:rPr>
              <a:t>Una estructura de trabajo profesional y demostrable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00200"/>
            <a:ext cx="2011680" cy="3810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728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9728" cy="192024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84247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20823"/>
            <a:ext cx="4175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5E20"/>
                </a:solidFill>
                <a:latin typeface="Calibri"/>
              </a:rPr>
              <a:t>Metodología reconocida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32887"/>
            <a:ext cx="41756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Ciclo de vida adaptativo, iterativo e incremental con Scrum: un marco profesional y adecuado al producto.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74519"/>
            <a:ext cx="52728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74519"/>
            <a:ext cx="109728" cy="192024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1984247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E7D32"/>
                </a:solidFill>
                <a:latin typeface="Calibri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8847" y="2020823"/>
            <a:ext cx="4175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5E20"/>
                </a:solidFill>
                <a:latin typeface="Calibri"/>
              </a:rPr>
              <a:t>Avances medibles cada 3 semanas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847" y="2532887"/>
            <a:ext cx="41756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Sprints de tres semanas que garantizan entregas concretas y verificables, no “todo al final”.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799"/>
            <a:ext cx="52728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14799"/>
            <a:ext cx="109728" cy="192024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24527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E7D32"/>
                </a:solidFill>
                <a:latin typeface="Calibri"/>
              </a:rP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61103"/>
            <a:ext cx="4175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5E20"/>
                </a:solidFill>
                <a:latin typeface="Calibri"/>
              </a:rPr>
              <a:t>El proyecto arrancó bien fundado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73167"/>
            <a:ext cx="41756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Sprint 0 ejecutado: alcance, backlog, cronograma, riesgos, arquitectura y gestión de configuración.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4114799"/>
            <a:ext cx="52728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8727" y="4114799"/>
            <a:ext cx="109728" cy="192024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4759" y="4224527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E7D32"/>
                </a:solidFill>
                <a:latin typeface="Calibri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8847" y="4261103"/>
            <a:ext cx="4175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5E20"/>
                </a:solidFill>
                <a:latin typeface="Calibri"/>
              </a:rPr>
              <a:t>Avance real, no solo planificación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8847" y="4773167"/>
            <a:ext cx="41756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Sprint 1 en marcha: monorepo, frontend, backend, contratos, CI y contrato base ECOToken.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172200"/>
            <a:ext cx="10908792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21792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Calibri"/>
              </a:rPr>
              <a:t>El proyecto está vivo y ordenado: cada iteración entrega valor verificable.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6BB6A"/>
                </a:solidFill>
                <a:latin typeface="Calibri"/>
              </a:rPr>
              <a:t>INTERESADOS · COMUNICACIONES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5E20"/>
                </a:solidFill>
                <a:latin typeface="Calibri"/>
              </a:rPr>
              <a:t>Gestión con criterio y validación con actores reales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00200"/>
            <a:ext cx="2011680" cy="3810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728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9728" cy="192024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84247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E7D32"/>
                </a:solidFill>
                <a:latin typeface="Calibri"/>
              </a:rPr>
              <a:t>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20823"/>
            <a:ext cx="4175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5E20"/>
                </a:solidFill>
                <a:latin typeface="Calibri"/>
              </a:rPr>
              <a:t>Priorización con criterio (PMBOK)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32887"/>
            <a:ext cx="41756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Matriz Poder/Interés para decidir a quién comunicar, con qué intensidad y cómo.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74519"/>
            <a:ext cx="52728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74519"/>
            <a:ext cx="109728" cy="192024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1984247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E7D32"/>
                </a:solidFill>
                <a:latin typeface="Calibri"/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8847" y="2020823"/>
            <a:ext cx="4175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5E20"/>
                </a:solidFill>
                <a:latin typeface="Calibri"/>
              </a:rPr>
              <a:t>Anclaje en el mundo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847" y="2532887"/>
            <a:ext cx="41756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Municipalidad – Secretaría de Ambiente, Cooperativa “7 de Febrero” y organizaciones adheridas.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799"/>
            <a:ext cx="52728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14799"/>
            <a:ext cx="109728" cy="192024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24527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E7D32"/>
                </a:solidFill>
                <a:latin typeface="Calibri"/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61103"/>
            <a:ext cx="4175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5E20"/>
                </a:solidFill>
                <a:latin typeface="Calibri"/>
              </a:rPr>
              <a:t>Validación académica continua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73167"/>
            <a:ext cx="41756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Sprint Review con el docente cada 3 semanas: guía y validación constantes del avance.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4114799"/>
            <a:ext cx="52728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8727" y="4114799"/>
            <a:ext cx="109728" cy="192024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4759" y="4224527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E7D32"/>
                </a:solidFill>
                <a:latin typeface="Calibri"/>
              </a:rPr>
              <a:t>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8847" y="4261103"/>
            <a:ext cx="4175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5E20"/>
                </a:solidFill>
                <a:latin typeface="Calibri"/>
              </a:rPr>
              <a:t>Trazabilidad y orden documental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8847" y="4773167"/>
            <a:ext cx="41756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Canales claros con responsables: Google Drive, GitHub, Notion y Discord.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172200"/>
            <a:ext cx="10908792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21792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Calibri"/>
              </a:rPr>
              <a:t>Cada decisión, avance y cambio queda registrado y rastreable de punta a punta.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